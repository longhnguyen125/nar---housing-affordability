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6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hy" id="{FDD8BB83-D0B2-2D3F-0F9F-4F6435542067}">
          <p14:sldIdLst>
            <p14:sldId id="256"/>
            <p14:sldId id="257"/>
            <p14:sldId id="258"/>
          </p14:sldIdLst>
        </p14:section>
        <p14:section name="How" id="{BD6B4A26-89E8-1944-9126-39A3B578CC21}">
          <p14:sldIdLst>
            <p14:sldId id="259"/>
          </p14:sldIdLst>
        </p14:section>
        <p14:section name="Results" id="{75DFB9DA-2AF6-CE36-8226-CA9DACDA4920}">
          <p14:sldIdLst>
            <p14:sldId id="260"/>
            <p14:sldId id="261"/>
            <p14:sldId id="262"/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89"/>
    <p:restoredTop sz="89640"/>
  </p:normalViewPr>
  <p:slideViewPr>
    <p:cSldViewPr snapToGrid="0" snapToObjects="1">
      <p:cViewPr varScale="1">
        <p:scale>
          <a:sx n="107" d="100"/>
          <a:sy n="107" d="100"/>
        </p:scale>
        <p:origin x="92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73835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am I am doing it?</a:t>
            </a:r>
          </a:p>
          <a:p>
            <a:endParaRPr lang="en-US" dirty="0"/>
          </a:p>
          <a:p>
            <a:r>
              <a:rPr lang="en-US" dirty="0"/>
              <a:t>Learn more about NAR business</a:t>
            </a:r>
          </a:p>
          <a:p>
            <a:endParaRPr lang="en-US" dirty="0"/>
          </a:p>
          <a:p>
            <a:r>
              <a:rPr lang="en-US" dirty="0"/>
              <a:t>The economic states </a:t>
            </a:r>
          </a:p>
          <a:p>
            <a:endParaRPr lang="en-US" dirty="0"/>
          </a:p>
          <a:p>
            <a:r>
              <a:rPr lang="en-US" dirty="0"/>
              <a:t>*** What is my role as a DA and how can </a:t>
            </a:r>
            <a:r>
              <a:rPr lang="en-US" dirty="0" err="1"/>
              <a:t>i</a:t>
            </a:r>
            <a:r>
              <a:rPr lang="en-US" dirty="0"/>
              <a:t> help solving a much more complex problem when collaborating with a DS team member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weeks ago I read that 30-year mortgage rates were back above 7%, according to Freddie Mac data, this mortgage rate is now at 7.4 as of Oct 8, 26.</a:t>
            </a:r>
          </a:p>
          <a:p>
            <a:endParaRPr lang="en-US" dirty="0"/>
          </a:p>
          <a:p>
            <a:r>
              <a:rPr lang="en-US" dirty="0"/>
              <a:t>Combining first-time buyers data had fallen to 21% of all buyers, the lowest NAR has ever recorded. </a:t>
            </a:r>
          </a:p>
          <a:p>
            <a:endParaRPr lang="en-US" dirty="0"/>
          </a:p>
          <a:p>
            <a:r>
              <a:rPr lang="en-US" dirty="0"/>
              <a:t>Median age, losing 150,000 in EQUITY</a:t>
            </a:r>
          </a:p>
          <a:p>
            <a:endParaRPr lang="en-US" dirty="0"/>
          </a:p>
          <a:p>
            <a:r>
              <a:rPr lang="en-US" dirty="0"/>
              <a:t>As a Gen Z, that's my generation being priced out, because we are the next wave of first time buyer</a:t>
            </a:r>
          </a:p>
          <a:p>
            <a:endParaRPr lang="en-US" dirty="0"/>
          </a:p>
          <a:p>
            <a:r>
              <a:rPr lang="en-US" dirty="0"/>
              <a:t>and my segment would really important to NAR's members and executive vision. Because by watching this gen Z segment slowly disappearing from the market, it would hurt NAR and its member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turned my concern into one measurable question and split it into three </a:t>
            </a:r>
            <a:r>
              <a:rPr lang="en-US" dirty="0" err="1"/>
              <a:t>subquestion</a:t>
            </a:r>
            <a:r>
              <a:rPr lang="en-US" dirty="0"/>
              <a:t>, a smaller scale that could answer much more effectively and  easier.</a:t>
            </a:r>
          </a:p>
          <a:p>
            <a:r>
              <a:rPr lang="en-US" dirty="0"/>
              <a:t> </a:t>
            </a:r>
          </a:p>
          <a:p>
            <a:r>
              <a:rPr lang="en-US" dirty="0"/>
              <a:t>Q1 uses NAR's standard index, 20% down payment Principal &amp; Interest no greater than 25% of family income. </a:t>
            </a:r>
          </a:p>
          <a:p>
            <a:r>
              <a:rPr lang="en-US" dirty="0"/>
              <a:t>Q2 same metric but down payment is now 10%, the median first-time buyer down payment according to NAR =&gt; we want to use a realistic case in this scenario</a:t>
            </a:r>
          </a:p>
          <a:p>
            <a:r>
              <a:rPr lang="en-US" dirty="0"/>
              <a:t>Q3 If they can't afford what would have to change. Is it PRICE / INCOME / Interest RATES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public source per ingredient, joined on the government metro ID and month. I used NAR's own HAI </a:t>
            </a:r>
            <a:r>
              <a:rPr lang="en-US" dirty="0" err="1"/>
              <a:t>formul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 NAR's standard 20% down, P&amp;I &lt; 25%. </a:t>
            </a:r>
          </a:p>
          <a:p>
            <a:endParaRPr lang="en-US" dirty="0"/>
          </a:p>
          <a:p>
            <a:r>
              <a:rPr lang="en-US" dirty="0"/>
              <a:t>If a index score above 100, which mean affordable, </a:t>
            </a:r>
          </a:p>
          <a:p>
            <a:r>
              <a:rPr lang="en-US" dirty="0"/>
              <a:t>&lt; 100 is less affordable based on median income of that metro. </a:t>
            </a:r>
          </a:p>
          <a:p>
            <a:endParaRPr lang="en-US" dirty="0"/>
          </a:p>
          <a:p>
            <a:r>
              <a:rPr lang="en-US" dirty="0"/>
              <a:t>47 of the 100 largest metros are clearly affordable, 41 are not, and 12 are too close to call,</a:t>
            </a:r>
          </a:p>
          <a:p>
            <a:endParaRPr lang="en-US" dirty="0"/>
          </a:p>
          <a:p>
            <a:r>
              <a:rPr lang="en-US" dirty="0"/>
              <a:t>As you can see on the right side LA is least affordable at 42 HAI Score; most affordable, with Pittsburgh at 167.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Why there is a 12 metros too close to call,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is because income census data has MOE and I'm applying the same metric MOE to this results.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r>
              <a:rPr lang="en-US" dirty="0"/>
              <a:t>So instead of confidently predict affordable or not, I'll put it as too close to call. 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Because it would also involving a lot of factor outside of mortgage rates. / housing insurance, taxes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 10%, the typical first-time buyer's down payment,</a:t>
            </a:r>
          </a:p>
          <a:p>
            <a:endParaRPr lang="en-US" dirty="0"/>
          </a:p>
          <a:p>
            <a:r>
              <a:rPr lang="en-US" dirty="0"/>
              <a:t> clearly affordable metros drop from 47 to 27 and not affordable rises to 63 metros. </a:t>
            </a:r>
          </a:p>
          <a:p>
            <a:endParaRPr lang="en-US" dirty="0"/>
          </a:p>
          <a:p>
            <a:r>
              <a:rPr lang="en-US" dirty="0"/>
              <a:t>The extra payment per month is fluctuate around 144 to 911, with 262 a month higher at the median, and 32 metros change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chemeClr val="tx2"/>
                </a:solidFill>
              </a:rPr>
              <a:t>Once again, this result is not including Mortgage insurance, taxes so the real picture is slightly worse.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>
              <a:solidFill>
                <a:schemeClr val="tx2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Again, using the same metric, with 10% down payment, but this time, the interest rate is changing</a:t>
            </a:r>
          </a:p>
          <a:p>
            <a:endParaRPr lang="en-US" dirty="0"/>
          </a:p>
          <a:p>
            <a:r>
              <a:rPr lang="en-US" dirty="0"/>
              <a:t>For the 63 unaffordable metros, prices would need to fall about 20% at the median, or incomes rise about 25%. </a:t>
            </a:r>
          </a:p>
          <a:p>
            <a:endParaRPr lang="en-US" dirty="0"/>
          </a:p>
          <a:p>
            <a:r>
              <a:rPr lang="en-US" dirty="0"/>
              <a:t>Affordable metro based on MORTGAGE rate, as the rates dropped, the affordable metro picture became much more clearer. </a:t>
            </a:r>
          </a:p>
          <a:p>
            <a:endParaRPr lang="en-US" dirty="0"/>
          </a:p>
          <a:p>
            <a:r>
              <a:rPr lang="en-US" dirty="0"/>
              <a:t>Since I do not have any additional data like most current sales, income of 2025 or even 2026 to developing my own model to determine which factor contributing most to a buyer decision. </a:t>
            </a:r>
          </a:p>
          <a:p>
            <a:endParaRPr lang="en-US" dirty="0"/>
          </a:p>
          <a:p>
            <a:r>
              <a:rPr lang="en-US" dirty="0"/>
              <a:t>Therefore I can concluded that mortgage rate have a significant influence in a buyer would purchase a home.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recommendations. </a:t>
            </a:r>
          </a:p>
          <a:p>
            <a:endParaRPr lang="en-US" dirty="0"/>
          </a:p>
          <a:p>
            <a:r>
              <a:rPr lang="en-US" dirty="0"/>
              <a:t>For NAR : publish a monthly, metro-level listing-based index as an early signal next to the official one, because based on the data that I has, index is based on closed sales, not current listing price. Also inform realtors about potential market so that its member can be prepare.</a:t>
            </a:r>
          </a:p>
          <a:p>
            <a:endParaRPr lang="en-US" dirty="0"/>
          </a:p>
          <a:p>
            <a:r>
              <a:rPr lang="en-US" dirty="0"/>
              <a:t>For Realtors: watch rates and index score in metros near break-even closely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Because instead of put down 20%, a 10% down payment would increase monthly payment at the median being $262 per month, etc.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77CE2-4402-942B-FD26-6E29BDAB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731407"/>
            <a:ext cx="6480450" cy="3038878"/>
          </a:xfrm>
        </p:spPr>
        <p:txBody>
          <a:bodyPr anchor="t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F79075-DF30-526B-9548-3F9D7EF9FA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315" y="5264528"/>
            <a:ext cx="6577526" cy="1001354"/>
          </a:xfrm>
        </p:spPr>
        <p:txBody>
          <a:bodyPr anchor="ctr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C3F3D2-CADD-A94F-6739-CCCDA6C6F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80" y="6426091"/>
            <a:ext cx="435754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C541E-3AF5-9564-CE04-E4B86459DB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932188" y="6426091"/>
            <a:ext cx="1431447" cy="365125"/>
          </a:xfrm>
        </p:spPr>
        <p:txBody>
          <a:bodyPr/>
          <a:lstStyle/>
          <a:p>
            <a:fld id="{4AAD347D-5ACD-4C99-B74B-A9C85AD731AF}" type="datetimeFigureOut">
              <a:rPr lang="en-US" smtClean="0"/>
              <a:t>10/12/26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772A7-7F28-0EB0-D243-BCC6917DA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382685" y="6426091"/>
            <a:ext cx="603114" cy="365125"/>
          </a:xfrm>
        </p:spPr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D3F2A15-2C96-2533-3F11-3EFA30B5671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20000" y="0"/>
            <a:ext cx="4571999" cy="6858000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22CE8C-DC47-AF8A-A37E-C04D364B8D63}"/>
              </a:ext>
            </a:extLst>
          </p:cNvPr>
          <p:cNvCxnSpPr>
            <a:cxnSpLocks/>
          </p:cNvCxnSpPr>
          <p:nvPr/>
        </p:nvCxnSpPr>
        <p:spPr>
          <a:xfrm>
            <a:off x="533400" y="6324773"/>
            <a:ext cx="648045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35A6ADE-4FF0-6E84-4D25-A3E7A481303D}"/>
              </a:ext>
            </a:extLst>
          </p:cNvPr>
          <p:cNvCxnSpPr>
            <a:cxnSpLocks/>
          </p:cNvCxnSpPr>
          <p:nvPr/>
        </p:nvCxnSpPr>
        <p:spPr>
          <a:xfrm>
            <a:off x="533400" y="5184424"/>
            <a:ext cx="6460509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B306735-74E7-C788-FB5F-7BC551ED5CDD}"/>
              </a:ext>
            </a:extLst>
          </p:cNvPr>
          <p:cNvCxnSpPr>
            <a:cxnSpLocks/>
          </p:cNvCxnSpPr>
          <p:nvPr/>
        </p:nvCxnSpPr>
        <p:spPr>
          <a:xfrm>
            <a:off x="533400" y="512722"/>
            <a:ext cx="6456409" cy="0"/>
          </a:xfrm>
          <a:prstGeom prst="line">
            <a:avLst/>
          </a:prstGeom>
          <a:ln w="476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50781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679" y="332308"/>
            <a:ext cx="11253667" cy="909921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336" y="1488931"/>
            <a:ext cx="11253668" cy="47007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10/12/26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4AB0D3-0312-25C6-7159-3EBA07E82C60}"/>
              </a:ext>
            </a:extLst>
          </p:cNvPr>
          <p:cNvCxnSpPr>
            <a:cxnSpLocks/>
          </p:cNvCxnSpPr>
          <p:nvPr/>
        </p:nvCxnSpPr>
        <p:spPr>
          <a:xfrm>
            <a:off x="530352" y="1357303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7573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1F847F0-1D67-5F49-6571-5F248F11275B}"/>
              </a:ext>
            </a:extLst>
          </p:cNvPr>
          <p:cNvCxnSpPr>
            <a:cxnSpLocks/>
          </p:cNvCxnSpPr>
          <p:nvPr/>
        </p:nvCxnSpPr>
        <p:spPr>
          <a:xfrm>
            <a:off x="8173214" y="530425"/>
            <a:ext cx="3485386" cy="0"/>
          </a:xfrm>
          <a:prstGeom prst="line">
            <a:avLst/>
          </a:prstGeom>
          <a:ln w="412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280C4FA-D5DF-A52F-5EBC-E1A231F643A5}"/>
              </a:ext>
            </a:extLst>
          </p:cNvPr>
          <p:cNvCxnSpPr>
            <a:cxnSpLocks/>
          </p:cNvCxnSpPr>
          <p:nvPr/>
        </p:nvCxnSpPr>
        <p:spPr>
          <a:xfrm>
            <a:off x="8173214" y="5498461"/>
            <a:ext cx="3485386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60877CE2-4402-942B-FD26-6E29BDAB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3968" y="768351"/>
            <a:ext cx="3685656" cy="2843527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D3F2A15-2C96-2533-3F11-3EFA30B5671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605681" cy="6858000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F79075-DF30-526B-9548-3F9D7EF9FA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73978" y="5681133"/>
            <a:ext cx="3655646" cy="664191"/>
          </a:xfrm>
        </p:spPr>
        <p:txBody>
          <a:bodyPr anchor="t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E2571521-DF5C-DF9C-1A62-5F1513FC610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8073978" y="6426091"/>
            <a:ext cx="2295058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1135B836-FBFB-89F8-B972-11036B55F5CF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298013" y="6426091"/>
            <a:ext cx="875825" cy="365125"/>
          </a:xfrm>
        </p:spPr>
        <p:txBody>
          <a:bodyPr/>
          <a:lstStyle/>
          <a:p>
            <a:fld id="{4AAD347D-5ACD-4C99-B74B-A9C85AD731AF}" type="datetimeFigureOut">
              <a:rPr lang="en-US" smtClean="0"/>
              <a:t>10/12/26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0AD8387-A9F9-E9E2-1138-08C0AA49571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3858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2336" y="765750"/>
            <a:ext cx="9635668" cy="34551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80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428" y="5271844"/>
            <a:ext cx="9613065" cy="100135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10/12/26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4CDCB79-1025-8102-1BC6-378AB173CBFF}"/>
              </a:ext>
            </a:extLst>
          </p:cNvPr>
          <p:cNvCxnSpPr>
            <a:cxnSpLocks/>
          </p:cNvCxnSpPr>
          <p:nvPr/>
        </p:nvCxnSpPr>
        <p:spPr>
          <a:xfrm>
            <a:off x="533400" y="5184424"/>
            <a:ext cx="111252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EF23CAD-F5FD-3FB3-B413-1F54592B07E7}"/>
              </a:ext>
            </a:extLst>
          </p:cNvPr>
          <p:cNvCxnSpPr>
            <a:cxnSpLocks/>
          </p:cNvCxnSpPr>
          <p:nvPr/>
        </p:nvCxnSpPr>
        <p:spPr>
          <a:xfrm>
            <a:off x="533400" y="6324600"/>
            <a:ext cx="111252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1716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997" y="3018408"/>
            <a:ext cx="8961120" cy="3247475"/>
          </a:xfrm>
        </p:spPr>
        <p:txBody>
          <a:bodyPr anchor="b">
            <a:normAutofit/>
          </a:bodyPr>
          <a:lstStyle>
            <a:lvl1pPr>
              <a:defRPr sz="6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10/12/26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FD05DD5-DCB7-49C7-5E41-2DBD8B73D6D2}"/>
              </a:ext>
            </a:extLst>
          </p:cNvPr>
          <p:cNvCxnSpPr>
            <a:cxnSpLocks/>
          </p:cNvCxnSpPr>
          <p:nvPr/>
        </p:nvCxnSpPr>
        <p:spPr>
          <a:xfrm>
            <a:off x="530646" y="531958"/>
            <a:ext cx="11127954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9FDA663-314D-CA26-DF41-CB3FDC0733F0}"/>
              </a:ext>
            </a:extLst>
          </p:cNvPr>
          <p:cNvCxnSpPr>
            <a:cxnSpLocks/>
          </p:cNvCxnSpPr>
          <p:nvPr/>
        </p:nvCxnSpPr>
        <p:spPr>
          <a:xfrm>
            <a:off x="533400" y="6324600"/>
            <a:ext cx="111252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61145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392851"/>
            <a:ext cx="7525512" cy="1882595"/>
          </a:xfrm>
        </p:spPr>
        <p:txBody>
          <a:bodyPr anchor="t">
            <a:normAutofit/>
          </a:bodyPr>
          <a:lstStyle>
            <a:lvl1pPr>
              <a:defRPr sz="6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34856" y="2502245"/>
            <a:ext cx="7492991" cy="3669956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/>
            </a:lvl1pPr>
            <a:lvl2pPr marL="800100" indent="-342900">
              <a:buFont typeface="+mj-lt"/>
              <a:buAutoNum type="arabicPeriod"/>
              <a:defRPr lang="en-US" sz="1800" dirty="0"/>
            </a:lvl2pPr>
            <a:lvl3pPr marL="1257300" indent="-342900">
              <a:buFont typeface="+mj-lt"/>
              <a:buAutoNum type="arabicPeriod"/>
              <a:defRPr lang="en-US" sz="1600" dirty="0"/>
            </a:lvl3pPr>
            <a:lvl4pPr marL="1714500" indent="-342900">
              <a:buFont typeface="+mj-lt"/>
              <a:buAutoNum type="arabicPeriod"/>
              <a:defRPr lang="en-US" sz="1600" dirty="0"/>
            </a:lvl4pPr>
            <a:lvl5pPr marL="2171700" indent="-342900">
              <a:buFont typeface="+mj-lt"/>
              <a:buAutoNum type="arabicPeriod"/>
              <a:defRPr lang="en-US" sz="16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10/12/26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6763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Agenda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401519"/>
            <a:ext cx="6516938" cy="2091068"/>
          </a:xfrm>
        </p:spPr>
        <p:txBody>
          <a:bodyPr anchor="t">
            <a:normAutofit/>
          </a:bodyPr>
          <a:lstStyle>
            <a:lvl1pPr>
              <a:defRPr sz="6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36526" y="2897442"/>
            <a:ext cx="6482747" cy="3279838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/>
            </a:lvl1pPr>
            <a:lvl2pPr marL="800100" indent="-342900">
              <a:buFont typeface="+mj-lt"/>
              <a:buAutoNum type="arabicPeriod"/>
              <a:defRPr lang="en-US" sz="1800" dirty="0"/>
            </a:lvl2pPr>
            <a:lvl3pPr marL="1257300" indent="-342900">
              <a:buFont typeface="+mj-lt"/>
              <a:buAutoNum type="arabicPeriod"/>
              <a:defRPr lang="en-US" sz="1600" dirty="0"/>
            </a:lvl3pPr>
            <a:lvl4pPr marL="1714500" indent="-342900">
              <a:buFont typeface="+mj-lt"/>
              <a:buAutoNum type="arabicPeriod"/>
              <a:defRPr lang="en-US" sz="1600" dirty="0"/>
            </a:lvl4pPr>
            <a:lvl5pPr marL="2171700" indent="-342900">
              <a:buFont typeface="+mj-lt"/>
              <a:buAutoNum type="arabicPeriod"/>
              <a:defRPr lang="en-US" sz="16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2336" y="6426091"/>
            <a:ext cx="430301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95850" y="6416667"/>
            <a:ext cx="1420310" cy="365125"/>
          </a:xfrm>
        </p:spPr>
        <p:txBody>
          <a:bodyPr/>
          <a:lstStyle/>
          <a:p>
            <a:fld id="{4AAD347D-5ACD-4C99-B74B-A9C85AD731AF}" type="datetimeFigureOut">
              <a:rPr lang="en-US" smtClean="0"/>
              <a:t>10/12/26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316160" y="6416667"/>
            <a:ext cx="603114" cy="365125"/>
          </a:xfrm>
        </p:spPr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FBFCD9F4-28CD-7877-8D0E-B6685E2A124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619999" y="0"/>
            <a:ext cx="4571999" cy="6857999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E6481B7-DF51-286F-B976-0777FDDAC524}"/>
              </a:ext>
            </a:extLst>
          </p:cNvPr>
          <p:cNvCxnSpPr>
            <a:cxnSpLocks/>
          </p:cNvCxnSpPr>
          <p:nvPr/>
        </p:nvCxnSpPr>
        <p:spPr>
          <a:xfrm>
            <a:off x="530352" y="2670800"/>
            <a:ext cx="6402856" cy="0"/>
          </a:xfrm>
          <a:prstGeom prst="line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62167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560" y="1399734"/>
            <a:ext cx="4136461" cy="291875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3780" y="1398419"/>
            <a:ext cx="625002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10/12/26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04E4891-5C32-2FDE-C242-EDBA3B5D1AC4}"/>
              </a:ext>
            </a:extLst>
          </p:cNvPr>
          <p:cNvCxnSpPr>
            <a:cxnSpLocks/>
          </p:cNvCxnSpPr>
          <p:nvPr/>
        </p:nvCxnSpPr>
        <p:spPr>
          <a:xfrm>
            <a:off x="530352" y="6322906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53589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400" y="435785"/>
            <a:ext cx="4268573" cy="291875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1452" y="743106"/>
            <a:ext cx="6277070" cy="5312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10/12/26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9F873DB-8FEF-C24C-ECA0-EABFFF560476}"/>
              </a:ext>
            </a:extLst>
          </p:cNvPr>
          <p:cNvCxnSpPr>
            <a:cxnSpLocks/>
          </p:cNvCxnSpPr>
          <p:nvPr/>
        </p:nvCxnSpPr>
        <p:spPr>
          <a:xfrm>
            <a:off x="5486400" y="528489"/>
            <a:ext cx="61722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04E4891-5C32-2FDE-C242-EDBA3B5D1AC4}"/>
              </a:ext>
            </a:extLst>
          </p:cNvPr>
          <p:cNvCxnSpPr>
            <a:cxnSpLocks/>
          </p:cNvCxnSpPr>
          <p:nvPr/>
        </p:nvCxnSpPr>
        <p:spPr>
          <a:xfrm>
            <a:off x="530352" y="6324600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35939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3867" y="691867"/>
            <a:ext cx="5664732" cy="12126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4" name="Picture Placeholder 8">
            <a:extLst>
              <a:ext uri="{FF2B5EF4-FFF2-40B4-BE49-F238E27FC236}">
                <a16:creationId xmlns:a16="http://schemas.microsoft.com/office/drawing/2014/main" id="{38FD2E6A-E1F7-36FC-E50F-AD4CE76910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1" y="533400"/>
            <a:ext cx="4953000" cy="5811928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93865" y="2007652"/>
            <a:ext cx="5664732" cy="43153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10/12/26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4AB0D3-0312-25C6-7159-3EBA07E82C60}"/>
              </a:ext>
            </a:extLst>
          </p:cNvPr>
          <p:cNvCxnSpPr>
            <a:cxnSpLocks/>
          </p:cNvCxnSpPr>
          <p:nvPr/>
        </p:nvCxnSpPr>
        <p:spPr>
          <a:xfrm>
            <a:off x="6058518" y="530352"/>
            <a:ext cx="5600082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39515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7971" y="691866"/>
            <a:ext cx="6680630" cy="12173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7BA63699-2EA2-4B8B-E296-BEF5937412F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0" y="533400"/>
            <a:ext cx="3886200" cy="5811924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7971" y="2010699"/>
            <a:ext cx="6680630" cy="43139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10/12/26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4AB0D3-0312-25C6-7159-3EBA07E82C60}"/>
              </a:ext>
            </a:extLst>
          </p:cNvPr>
          <p:cNvCxnSpPr>
            <a:cxnSpLocks/>
          </p:cNvCxnSpPr>
          <p:nvPr/>
        </p:nvCxnSpPr>
        <p:spPr>
          <a:xfrm>
            <a:off x="4984096" y="533400"/>
            <a:ext cx="6680631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77946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559" y="691867"/>
            <a:ext cx="6664559" cy="12173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217" y="2010699"/>
            <a:ext cx="6661902" cy="43308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7BA63699-2EA2-4B8B-E296-BEF5937412F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20000" y="533400"/>
            <a:ext cx="4038600" cy="5791200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00" y="6426091"/>
            <a:ext cx="3553839" cy="365125"/>
          </a:xfrm>
        </p:spPr>
        <p:txBody>
          <a:bodyPr/>
          <a:lstStyle/>
          <a:p>
            <a:fld id="{4AAD347D-5ACD-4C99-B74B-A9C85AD731AF}" type="datetimeFigureOut">
              <a:rPr lang="en-US" smtClean="0"/>
              <a:t>10/12/26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A3F4131-F439-B360-2C50-DC4ED02C5AF2}"/>
              </a:ext>
            </a:extLst>
          </p:cNvPr>
          <p:cNvCxnSpPr>
            <a:cxnSpLocks/>
          </p:cNvCxnSpPr>
          <p:nvPr/>
        </p:nvCxnSpPr>
        <p:spPr>
          <a:xfrm>
            <a:off x="516418" y="530352"/>
            <a:ext cx="65677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92813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376" y="691868"/>
            <a:ext cx="4577602" cy="143921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376" y="2211185"/>
            <a:ext cx="4577602" cy="39549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57807F9F-79B5-ED92-41CC-A1D1A8D03E3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486400" y="533399"/>
            <a:ext cx="6172200" cy="5791201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10/12/26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4AB0D3-0312-25C6-7159-3EBA07E82C60}"/>
              </a:ext>
            </a:extLst>
          </p:cNvPr>
          <p:cNvCxnSpPr>
            <a:cxnSpLocks/>
          </p:cNvCxnSpPr>
          <p:nvPr/>
        </p:nvCxnSpPr>
        <p:spPr>
          <a:xfrm>
            <a:off x="516418" y="530352"/>
            <a:ext cx="4436582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34087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8555" y="512011"/>
            <a:ext cx="6792069" cy="125992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9A161C3-930A-50CE-D3B8-C1429E6F242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0" y="533399"/>
            <a:ext cx="3886200" cy="5791201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4857" y="6426091"/>
            <a:ext cx="413714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8555" y="2148840"/>
            <a:ext cx="6792069" cy="4162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10/12/26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9C51D6-8120-DE83-0A77-B4C479640664}"/>
              </a:ext>
            </a:extLst>
          </p:cNvPr>
          <p:cNvCxnSpPr>
            <a:cxnSpLocks/>
          </p:cNvCxnSpPr>
          <p:nvPr/>
        </p:nvCxnSpPr>
        <p:spPr>
          <a:xfrm>
            <a:off x="4953000" y="1892587"/>
            <a:ext cx="67056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78783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1935" y="691867"/>
            <a:ext cx="3052570" cy="20116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6BC46AA6-BED0-04C6-38E0-12160144CC3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399" y="533400"/>
            <a:ext cx="7667626" cy="5788757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21935" y="2889848"/>
            <a:ext cx="3052570" cy="3434752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5C6323EE-3C7E-2716-8BD0-C89545F04FC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F01E841F-9F6D-0E74-84D5-4BA2AF78F5C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10/12/26</a:t>
            </a:fld>
            <a:endParaRPr lang="en-US" dirty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ACE2DCFD-EFAB-71DF-776D-014822C0AB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CFBB608-C785-A34D-1B6D-96361A676495}"/>
              </a:ext>
            </a:extLst>
          </p:cNvPr>
          <p:cNvCxnSpPr>
            <a:cxnSpLocks/>
          </p:cNvCxnSpPr>
          <p:nvPr/>
        </p:nvCxnSpPr>
        <p:spPr>
          <a:xfrm>
            <a:off x="8727541" y="533400"/>
            <a:ext cx="293106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47344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399" y="4829695"/>
            <a:ext cx="4289051" cy="14131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1FFBA57-7EFE-2CC4-EE45-5F1F633C1A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0" y="533400"/>
            <a:ext cx="11125200" cy="4013885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177800" dir="14400000" sx="98000" sy="98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4857" y="6426091"/>
            <a:ext cx="4289051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3779" y="4829695"/>
            <a:ext cx="6554822" cy="1529541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10/12/26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4639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755" y="691867"/>
            <a:ext cx="4067721" cy="155955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1FFBA57-7EFE-2CC4-EE45-5F1F633C1A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0" y="2521819"/>
            <a:ext cx="3886200" cy="3802781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190500" dir="144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0685" y="694944"/>
            <a:ext cx="6705600" cy="56296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4857" y="6426091"/>
            <a:ext cx="398474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10/12/26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5719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295957"/>
            <a:ext cx="4000501" cy="18895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C4C6F3D6-B9C8-D66A-B29A-CE5D5FBDE5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0" y="531891"/>
            <a:ext cx="3886202" cy="3603594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190500" dir="144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1" y="694944"/>
            <a:ext cx="6705599" cy="55067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2354F31B-6E0C-9ACF-A3B4-2BE5DD2D21D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1D4992A1-A620-24C8-73C6-0C53DD6F386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10/12/26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2384E85-ACDE-270D-7478-1B88F47F14A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4AB0D3-0312-25C6-7159-3EBA07E82C60}"/>
              </a:ext>
            </a:extLst>
          </p:cNvPr>
          <p:cNvCxnSpPr>
            <a:cxnSpLocks/>
          </p:cNvCxnSpPr>
          <p:nvPr/>
        </p:nvCxnSpPr>
        <p:spPr>
          <a:xfrm>
            <a:off x="4953001" y="531891"/>
            <a:ext cx="6705599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04E4891-5C32-2FDE-C242-EDBA3B5D1AC4}"/>
              </a:ext>
            </a:extLst>
          </p:cNvPr>
          <p:cNvCxnSpPr>
            <a:cxnSpLocks/>
          </p:cNvCxnSpPr>
          <p:nvPr/>
        </p:nvCxnSpPr>
        <p:spPr>
          <a:xfrm>
            <a:off x="533399" y="6324600"/>
            <a:ext cx="11125201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29928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2889" y="5074607"/>
            <a:ext cx="11166223" cy="1068234"/>
          </a:xfrm>
        </p:spPr>
        <p:txBody>
          <a:bodyPr anchor="ctr">
            <a:normAutofit/>
          </a:bodyPr>
          <a:lstStyle>
            <a:lvl1pPr algn="ctr"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Edit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6419" y="495833"/>
            <a:ext cx="11159163" cy="4245996"/>
          </a:xfrm>
        </p:spPr>
        <p:txBody>
          <a:bodyPr anchor="ctr">
            <a:normAutofit/>
          </a:bodyPr>
          <a:lstStyle>
            <a:lvl1pPr marL="0" indent="0" algn="ctr">
              <a:lnSpc>
                <a:spcPct val="90000"/>
              </a:lnSpc>
              <a:buNone/>
              <a:defRPr sz="32000" cap="none" baseline="0">
                <a:solidFill>
                  <a:schemeClr val="accent1"/>
                </a:solidFill>
                <a:latin typeface="+mj-lt"/>
              </a:defRPr>
            </a:lvl1pPr>
            <a:lvl2pPr marL="228600" indent="0" algn="ctr">
              <a:lnSpc>
                <a:spcPct val="110000"/>
              </a:lnSpc>
              <a:buNone/>
              <a:defRPr sz="2400" cap="none" baseline="0">
                <a:solidFill>
                  <a:schemeClr val="tx1"/>
                </a:solidFill>
                <a:latin typeface="+mj-lt"/>
              </a:defRPr>
            </a:lvl2pPr>
            <a:lvl3pPr marL="457200" indent="0" algn="ctr">
              <a:lnSpc>
                <a:spcPct val="110000"/>
              </a:lnSpc>
              <a:buNone/>
              <a:defRPr sz="2000" cap="none" baseline="0">
                <a:solidFill>
                  <a:schemeClr val="tx1"/>
                </a:solidFill>
                <a:latin typeface="+mj-lt"/>
              </a:defRPr>
            </a:lvl3pPr>
            <a:lvl4pPr marL="685800" indent="0" algn="ctr">
              <a:lnSpc>
                <a:spcPct val="110000"/>
              </a:lnSpc>
              <a:buNone/>
              <a:defRPr sz="1800" cap="none" baseline="0">
                <a:solidFill>
                  <a:schemeClr val="tx1"/>
                </a:solidFill>
                <a:latin typeface="+mj-lt"/>
              </a:defRPr>
            </a:lvl4pPr>
            <a:lvl5pPr marL="914400" indent="0" algn="ctr">
              <a:lnSpc>
                <a:spcPct val="110000"/>
              </a:lnSpc>
              <a:buNone/>
              <a:defRPr sz="1600" cap="none" baseline="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FADD3D14-222C-BA8A-E4C0-8637820CBAB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7FEF00E3-D3E5-F5AF-F035-66A1547A063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10/12/26</a:t>
            </a:fld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37222D35-3F63-3753-6F10-57879AFE3C5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6998540-FFAB-625C-C2E6-DC04B074A2C4}"/>
              </a:ext>
            </a:extLst>
          </p:cNvPr>
          <p:cNvCxnSpPr>
            <a:cxnSpLocks/>
          </p:cNvCxnSpPr>
          <p:nvPr/>
        </p:nvCxnSpPr>
        <p:spPr>
          <a:xfrm>
            <a:off x="530352" y="4839664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FE9B0A1-4C47-68AF-0383-4819E2242D4E}"/>
              </a:ext>
            </a:extLst>
          </p:cNvPr>
          <p:cNvCxnSpPr>
            <a:cxnSpLocks/>
          </p:cNvCxnSpPr>
          <p:nvPr/>
        </p:nvCxnSpPr>
        <p:spPr>
          <a:xfrm>
            <a:off x="530352" y="6324600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61091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1480" y="722376"/>
            <a:ext cx="10762488" cy="545896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90000"/>
              </a:lnSpc>
              <a:buNone/>
              <a:defRPr lang="en-US" sz="7200" cap="all" baseline="0" dirty="0">
                <a:latin typeface="+mj-lt"/>
              </a:defRPr>
            </a:lvl1pPr>
            <a:lvl2pPr marL="457200" indent="0">
              <a:lnSpc>
                <a:spcPct val="90000"/>
              </a:lnSpc>
              <a:buNone/>
              <a:defRPr lang="en-US" sz="6600" cap="all" baseline="0" dirty="0">
                <a:latin typeface="+mj-lt"/>
              </a:defRPr>
            </a:lvl2pPr>
            <a:lvl3pPr marL="914400" indent="0">
              <a:lnSpc>
                <a:spcPct val="90000"/>
              </a:lnSpc>
              <a:buNone/>
              <a:defRPr lang="en-US" sz="6000" cap="all" baseline="0" dirty="0">
                <a:latin typeface="+mj-lt"/>
              </a:defRPr>
            </a:lvl3pPr>
            <a:lvl4pPr marL="1371600" indent="0">
              <a:lnSpc>
                <a:spcPct val="90000"/>
              </a:lnSpc>
              <a:buNone/>
              <a:defRPr lang="en-US" sz="6000" cap="all" baseline="0" dirty="0">
                <a:latin typeface="+mj-lt"/>
              </a:defRPr>
            </a:lvl4pPr>
            <a:lvl5pPr marL="1828800" indent="0">
              <a:lnSpc>
                <a:spcPct val="90000"/>
              </a:lnSpc>
              <a:buNone/>
              <a:defRPr lang="en-US" sz="6000" cap="all" baseline="0" dirty="0"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4B05AAB-D167-637A-451A-510AF3173A7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28B3CFC-5715-1685-A039-A3162E1A6D0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10/12/26</a:t>
            </a:fld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5256ABD-1750-68C8-B3DD-DDDA3342C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7C0A4E9-267E-8FCC-AB27-70F0E33E2D79}"/>
              </a:ext>
            </a:extLst>
          </p:cNvPr>
          <p:cNvCxnSpPr>
            <a:cxnSpLocks/>
          </p:cNvCxnSpPr>
          <p:nvPr/>
        </p:nvCxnSpPr>
        <p:spPr>
          <a:xfrm>
            <a:off x="530352" y="533400"/>
            <a:ext cx="11128248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7A1B5A9-A34C-A393-09C0-174C561F5FBF}"/>
              </a:ext>
            </a:extLst>
          </p:cNvPr>
          <p:cNvCxnSpPr>
            <a:cxnSpLocks/>
          </p:cNvCxnSpPr>
          <p:nvPr/>
        </p:nvCxnSpPr>
        <p:spPr>
          <a:xfrm>
            <a:off x="530352" y="6324600"/>
            <a:ext cx="11128248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86427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9764" y="5486400"/>
            <a:ext cx="9472473" cy="939691"/>
          </a:xfrm>
        </p:spPr>
        <p:txBody>
          <a:bodyPr anchor="ctr">
            <a:normAutofit/>
          </a:bodyPr>
          <a:lstStyle>
            <a:lvl1pPr marL="137160" indent="-137160" algn="ctr">
              <a:lnSpc>
                <a:spcPct val="100000"/>
              </a:lnSpc>
              <a:defRPr sz="1800" cap="all" baseline="0">
                <a:latin typeface="+mj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359761" y="667511"/>
            <a:ext cx="9413534" cy="4010998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4400" b="0" cap="none" spc="50" baseline="0">
                <a:solidFill>
                  <a:schemeClr val="accent1"/>
                </a:solidFill>
                <a:latin typeface="+mn-lt"/>
              </a:defRPr>
            </a:lvl1pPr>
            <a:lvl2pPr marL="228600" indent="0" algn="ctr">
              <a:lnSpc>
                <a:spcPct val="100000"/>
              </a:lnSpc>
              <a:buNone/>
              <a:defRPr sz="4000" b="0" cap="none" spc="50" baseline="0">
                <a:solidFill>
                  <a:schemeClr val="accent1"/>
                </a:solidFill>
                <a:latin typeface="+mn-lt"/>
              </a:defRPr>
            </a:lvl2pPr>
            <a:lvl3pPr marL="457200" indent="0" algn="ctr">
              <a:lnSpc>
                <a:spcPct val="100000"/>
              </a:lnSpc>
              <a:buNone/>
              <a:defRPr sz="3600" b="0" cap="none" spc="50" baseline="0">
                <a:solidFill>
                  <a:schemeClr val="accent1"/>
                </a:solidFill>
                <a:latin typeface="+mn-lt"/>
              </a:defRPr>
            </a:lvl3pPr>
            <a:lvl4pPr marL="685800" indent="0" algn="ctr">
              <a:lnSpc>
                <a:spcPct val="100000"/>
              </a:lnSpc>
              <a:buNone/>
              <a:defRPr sz="3200" b="0" cap="none" spc="50" baseline="0">
                <a:solidFill>
                  <a:schemeClr val="accent1"/>
                </a:solidFill>
                <a:latin typeface="+mn-lt"/>
              </a:defRPr>
            </a:lvl4pPr>
            <a:lvl5pPr marL="914400" indent="0" algn="ctr">
              <a:lnSpc>
                <a:spcPct val="100000"/>
              </a:lnSpc>
              <a:buNone/>
              <a:defRPr sz="2800" b="0" cap="none" spc="50" baseline="0">
                <a:solidFill>
                  <a:schemeClr val="accent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8922A5-1A25-C2CB-DB6C-A2CCA7E6E68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AB04756-BB80-4C64-D871-0ADC3A7778F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10/12/26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EF70E65-4C3D-A600-1367-6FBA2FDDE55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C95B307-0002-4F55-5801-73F564B37804}"/>
              </a:ext>
            </a:extLst>
          </p:cNvPr>
          <p:cNvCxnSpPr>
            <a:cxnSpLocks/>
          </p:cNvCxnSpPr>
          <p:nvPr/>
        </p:nvCxnSpPr>
        <p:spPr>
          <a:xfrm>
            <a:off x="1399690" y="5178692"/>
            <a:ext cx="9386681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7023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4958D-8125-1BDA-53C9-9E2D33883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365760"/>
            <a:ext cx="11239498" cy="9144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B8DBCC-227D-BB0A-7CD5-02D66CF1874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19100" y="1714500"/>
            <a:ext cx="5305425" cy="43894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BB7E01-A7E6-1882-4E9B-8EABAF71F96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45936" y="1719072"/>
            <a:ext cx="5321808" cy="43905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294A4A-89C4-68BF-6701-5C47F940E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908BC-F48B-81E4-8D93-7DB9E3716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10/12/26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F93A54-CB38-BEAF-260B-84EDDF301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90608C5-C55C-14AC-C8E9-7F0530018CE5}"/>
              </a:ext>
            </a:extLst>
          </p:cNvPr>
          <p:cNvCxnSpPr>
            <a:cxnSpLocks/>
          </p:cNvCxnSpPr>
          <p:nvPr/>
        </p:nvCxnSpPr>
        <p:spPr>
          <a:xfrm>
            <a:off x="533400" y="1357303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04573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mparis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4958D-8125-1BDA-53C9-9E2D33883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5" y="365760"/>
            <a:ext cx="11256264" cy="9144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09FF10-A82A-AAEB-4B8C-921F3BA20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048" y="1490472"/>
            <a:ext cx="5321808" cy="64290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EFD932-A581-1A49-7FAF-0FED2E2BC18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19100" y="2212975"/>
            <a:ext cx="5303838" cy="38925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627A15-4AB2-F230-22C7-0605AFD7DF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1490472"/>
            <a:ext cx="5321808" cy="64290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54404BD-8F2F-278E-C00B-3F1B1DE8CF2C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45238" y="2212975"/>
            <a:ext cx="5321808" cy="38925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294A4A-89C4-68BF-6701-5C47F940E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908BC-F48B-81E4-8D93-7DB9E3716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10/12/26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F93A54-CB38-BEAF-260B-84EDDF301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90608C5-C55C-14AC-C8E9-7F0530018CE5}"/>
              </a:ext>
            </a:extLst>
          </p:cNvPr>
          <p:cNvCxnSpPr>
            <a:cxnSpLocks/>
          </p:cNvCxnSpPr>
          <p:nvPr/>
        </p:nvCxnSpPr>
        <p:spPr>
          <a:xfrm>
            <a:off x="530352" y="1357303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16413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3695F-5E74-A380-8592-35FB6FC77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C6149D-58D4-7497-818C-CF30244A2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8D2567-C532-BD45-FA85-03DBE3B3C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10/12/26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C0E491-56EB-F527-8A63-FBEEE6196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4173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mpt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E9D82C-4607-0C9D-F241-D35DBEFEF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DCFCC5-7F8E-F549-57BA-7303E9F17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10/12/26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7BEB6A-C028-DA7D-C516-2F1316F03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0607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541942"/>
            <a:ext cx="11256264" cy="2225185"/>
          </a:xfrm>
        </p:spPr>
        <p:txBody>
          <a:bodyPr anchor="b">
            <a:normAutofit/>
          </a:bodyPr>
          <a:lstStyle>
            <a:lvl1pPr>
              <a:defRPr sz="72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099" y="3423301"/>
            <a:ext cx="11239499" cy="290129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457200" indent="0">
              <a:buNone/>
              <a:defRPr lang="en-US" dirty="0"/>
            </a:lvl2pPr>
            <a:lvl3pPr marL="914400" indent="0">
              <a:buNone/>
              <a:defRPr lang="en-US" dirty="0"/>
            </a:lvl3pPr>
            <a:lvl4pPr marL="1371600" indent="0">
              <a:buNone/>
              <a:defRPr lang="en-US" dirty="0"/>
            </a:lvl4pPr>
            <a:lvl5pPr marL="18288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10/12/26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FD55B63-1406-DAD2-DBAB-BD87EA2FB540}"/>
              </a:ext>
            </a:extLst>
          </p:cNvPr>
          <p:cNvCxnSpPr>
            <a:cxnSpLocks/>
          </p:cNvCxnSpPr>
          <p:nvPr/>
        </p:nvCxnSpPr>
        <p:spPr>
          <a:xfrm>
            <a:off x="533400" y="2978854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39134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1836238"/>
            <a:ext cx="11256264" cy="2512732"/>
          </a:xfrm>
        </p:spPr>
        <p:txBody>
          <a:bodyPr anchor="b">
            <a:normAutofit/>
          </a:bodyPr>
          <a:lstStyle>
            <a:lvl1pPr>
              <a:defRPr sz="72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099" y="4834052"/>
            <a:ext cx="11239499" cy="1405479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2000" dirty="0"/>
            </a:lvl1pPr>
            <a:lvl2pPr marL="457200" indent="0">
              <a:buNone/>
              <a:defRPr lang="en-US" sz="1800" dirty="0"/>
            </a:lvl2pPr>
            <a:lvl3pPr marL="914400" indent="0">
              <a:buNone/>
              <a:defRPr lang="en-US" sz="1600" dirty="0"/>
            </a:lvl3pPr>
            <a:lvl4pPr marL="1371600" indent="0">
              <a:buNone/>
              <a:defRPr lang="en-US" sz="1400" dirty="0"/>
            </a:lvl4pPr>
            <a:lvl5pPr marL="18288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10/12/26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5899B98-11E6-7DB0-F79E-50A541026355}"/>
              </a:ext>
            </a:extLst>
          </p:cNvPr>
          <p:cNvCxnSpPr>
            <a:cxnSpLocks/>
          </p:cNvCxnSpPr>
          <p:nvPr/>
        </p:nvCxnSpPr>
        <p:spPr>
          <a:xfrm>
            <a:off x="533400" y="4531625"/>
            <a:ext cx="11125198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65602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306" y="182880"/>
            <a:ext cx="7930892" cy="2238587"/>
          </a:xfrm>
          <a:noFill/>
        </p:spPr>
        <p:txBody>
          <a:bodyPr anchor="t">
            <a:normAutofit/>
          </a:bodyPr>
          <a:lstStyle>
            <a:lvl1pPr>
              <a:defRPr sz="12000" spc="-5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4946" y="3840480"/>
            <a:ext cx="6543924" cy="2536466"/>
          </a:xfrm>
        </p:spPr>
        <p:txBody>
          <a:bodyPr>
            <a:normAutofit/>
          </a:bodyPr>
          <a:lstStyle>
            <a:lvl1pPr marL="342900" indent="-342900">
              <a:buClr>
                <a:schemeClr val="accent2"/>
              </a:buClr>
              <a:buFont typeface="+mj-lt"/>
              <a:buAutoNum type="arabicPeriod"/>
              <a:defRPr sz="1800"/>
            </a:lvl1pPr>
            <a:lvl2pPr marL="800100" indent="-342900">
              <a:buClr>
                <a:schemeClr val="accent2"/>
              </a:buClr>
              <a:buFont typeface="+mj-lt"/>
              <a:buAutoNum type="arabicPeriod"/>
              <a:defRPr sz="1600"/>
            </a:lvl2pPr>
            <a:lvl3pPr marL="1257300" indent="-342900">
              <a:buClr>
                <a:schemeClr val="accent2"/>
              </a:buClr>
              <a:buFont typeface="+mj-lt"/>
              <a:buAutoNum type="arabicPeriod"/>
              <a:defRPr sz="1400"/>
            </a:lvl3pPr>
            <a:lvl4pPr>
              <a:buClr>
                <a:schemeClr val="accent2"/>
              </a:buClr>
              <a:buFont typeface="+mj-lt"/>
              <a:buAutoNum type="arabicPeriod"/>
              <a:defRPr sz="1200"/>
            </a:lvl4pPr>
            <a:lvl5pPr>
              <a:buClr>
                <a:schemeClr val="accent2"/>
              </a:buClr>
              <a:buFont typeface="+mj-lt"/>
              <a:buAutoNum type="arabicPeriod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134611" y="612381"/>
            <a:ext cx="1484228" cy="479352"/>
          </a:xfrm>
          <a:noFill/>
        </p:spPr>
        <p:txBody>
          <a:bodyPr anchor="t"/>
          <a:lstStyle>
            <a:lvl1pPr algn="r">
              <a:defRPr sz="1050"/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33512" y="2756699"/>
            <a:ext cx="1256738" cy="423823"/>
          </a:xfrm>
          <a:solidFill>
            <a:schemeClr val="bg2">
              <a:lumMod val="90000"/>
            </a:schemeClr>
          </a:solidFill>
        </p:spPr>
        <p:txBody>
          <a:bodyPr anchor="ctr"/>
          <a:lstStyle>
            <a:lvl1pPr algn="r">
              <a:defRPr/>
            </a:lvl1pPr>
          </a:lstStyle>
          <a:p>
            <a:fld id="{4AAD347D-5ACD-4C99-B74B-A9C85AD731AF}" type="datetimeFigureOut">
              <a:rPr lang="en-US" smtClean="0"/>
              <a:t>10/12/26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10544" y="2756699"/>
            <a:ext cx="429372" cy="423823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1DA62460-475C-38E7-135D-916B98438D0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763000" y="3415504"/>
            <a:ext cx="3429000" cy="344249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77244056"/>
      </p:ext>
    </p:extLst>
  </p:cSld>
  <p:clrMapOvr>
    <a:masterClrMapping/>
  </p:clrMapOvr>
  <p:hf sldNum="0"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L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5757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8916C8C-4316-E510-1962-E944B3382B43}"/>
              </a:ext>
            </a:extLst>
          </p:cNvPr>
          <p:cNvCxnSpPr>
            <a:cxnSpLocks/>
          </p:cNvCxnSpPr>
          <p:nvPr/>
        </p:nvCxnSpPr>
        <p:spPr>
          <a:xfrm>
            <a:off x="530352" y="533400"/>
            <a:ext cx="111252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478947-1D67-18A4-7E48-5B4B2F97F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83" y="691868"/>
            <a:ext cx="11243617" cy="90113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FE08CA-9517-ABC1-E915-31EA6D7B7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7640" y="1754753"/>
            <a:ext cx="11240960" cy="44113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3983D-E783-AAEC-26DB-4B3F6511C7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4857" y="6426091"/>
            <a:ext cx="46887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454426-0A97-D20B-FD06-9648AED777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846205" y="6426091"/>
            <a:ext cx="33276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10/12/26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13386-8E2A-2962-4804-81558038BA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6187" y="6426091"/>
            <a:ext cx="6031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alpha val="60000"/>
                  </a:schemeClr>
                </a:solidFill>
              </a:defRPr>
            </a:lvl1pPr>
          </a:lstStyle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1E8D67-00CA-7CDE-66AF-4E6E2CA0045D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9780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Classified as Microsoft Confidential</a:t>
            </a:r>
          </a:p>
        </p:txBody>
      </p:sp>
    </p:spTree>
    <p:extLst>
      <p:ext uri="{BB962C8B-B14F-4D97-AF65-F5344CB8AC3E}">
        <p14:creationId xmlns:p14="http://schemas.microsoft.com/office/powerpoint/2010/main" val="1537340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51" r:id="rId5"/>
    <p:sldLayoutId id="2147483752" r:id="rId6"/>
    <p:sldLayoutId id="2147483753" r:id="rId7"/>
    <p:sldLayoutId id="2147483754" r:id="rId8"/>
    <p:sldLayoutId id="2147483755" r:id="rId9"/>
    <p:sldLayoutId id="2147483756" r:id="rId10"/>
    <p:sldLayoutId id="2147483757" r:id="rId11"/>
    <p:sldLayoutId id="2147483758" r:id="rId12"/>
    <p:sldLayoutId id="2147483759" r:id="rId13"/>
    <p:sldLayoutId id="2147483760" r:id="rId14"/>
    <p:sldLayoutId id="2147483761" r:id="rId15"/>
    <p:sldLayoutId id="2147483762" r:id="rId16"/>
    <p:sldLayoutId id="2147483763" r:id="rId17"/>
    <p:sldLayoutId id="2147483764" r:id="rId18"/>
    <p:sldLayoutId id="2147483765" r:id="rId19"/>
    <p:sldLayoutId id="2147483766" r:id="rId20"/>
    <p:sldLayoutId id="2147483767" r:id="rId21"/>
    <p:sldLayoutId id="2147483768" r:id="rId22"/>
    <p:sldLayoutId id="2147483769" r:id="rId23"/>
    <p:sldLayoutId id="2147483770" r:id="rId24"/>
    <p:sldLayoutId id="2147483771" r:id="rId25"/>
    <p:sldLayoutId id="2147483772" r:id="rId26"/>
    <p:sldLayoutId id="2147483773" r:id="rId27"/>
    <p:sldLayoutId id="2147483774" r:id="rId28"/>
    <p:sldLayoutId id="2147483775" r:id="rId2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84">
          <p15:clr>
            <a:srgbClr val="F26B43"/>
          </p15:clr>
        </p15:guide>
        <p15:guide id="2" pos="4128">
          <p15:clr>
            <a:srgbClr val="F26B43"/>
          </p15:clr>
        </p15:guide>
        <p15:guide id="3" pos="3456">
          <p15:clr>
            <a:srgbClr val="F26B43"/>
          </p15:clr>
        </p15:guide>
        <p15:guide id="4" pos="2784">
          <p15:clr>
            <a:srgbClr val="F26B43"/>
          </p15:clr>
        </p15:guide>
        <p15:guide id="5" pos="336">
          <p15:clr>
            <a:srgbClr val="F26B43"/>
          </p15:clr>
        </p15:guide>
        <p15:guide id="6" pos="7344">
          <p15:clr>
            <a:srgbClr val="F26B43"/>
          </p15:clr>
        </p15:guide>
        <p15:guide id="7" orient="horz" pos="336">
          <p15:clr>
            <a:srgbClr val="F26B43"/>
          </p15:clr>
        </p15:guide>
        <p15:guide id="8" pos="264">
          <p15:clr>
            <a:srgbClr val="F26B43"/>
          </p15:clr>
        </p15:guide>
        <p15:guide id="9" pos="4800">
          <p15:clr>
            <a:srgbClr val="F26B43"/>
          </p15:clr>
        </p15:guide>
        <p15:guide id="10" pos="2112">
          <p15:clr>
            <a:srgbClr val="F26B43"/>
          </p15:clr>
        </p15:guide>
        <p15:guide id="11" pos="547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-title"/>
          <p:cNvSpPr txBox="1"/>
          <p:nvPr/>
        </p:nvSpPr>
        <p:spPr>
          <a:xfrm>
            <a:off x="1615440" y="2476929"/>
            <a:ext cx="8961120" cy="1899634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/>
          <a:p>
            <a:pPr marL="342900" indent="-3429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accent2"/>
              </a:buClr>
            </a:pPr>
            <a:r>
              <a:rPr lang="en-US" sz="4500" b="0" i="0" kern="1200" cap="all" baseline="0" dirty="0">
                <a:latin typeface="+mj-lt"/>
                <a:ea typeface="+mj-ea"/>
                <a:cs typeface="+mj-cs"/>
              </a:rPr>
              <a:t>Can a typical family afford a typical home in America's 100 largest metros?</a:t>
            </a:r>
          </a:p>
        </p:txBody>
      </p:sp>
      <p:sp>
        <p:nvSpPr>
          <p:cNvPr id="3" name="cover-subtitle"/>
          <p:cNvSpPr txBox="1"/>
          <p:nvPr/>
        </p:nvSpPr>
        <p:spPr>
          <a:xfrm>
            <a:off x="822960" y="406908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cover-byline"/>
          <p:cNvSpPr txBox="1"/>
          <p:nvPr/>
        </p:nvSpPr>
        <p:spPr>
          <a:xfrm>
            <a:off x="822960" y="5760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First-time buyers are being priced out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  <p:sp>
        <p:nvSpPr>
          <p:cNvPr id="3" name="hero-stat"/>
          <p:cNvSpPr txBox="1"/>
          <p:nvPr/>
        </p:nvSpPr>
        <p:spPr>
          <a:xfrm>
            <a:off x="640080" y="1554480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21%</a:t>
            </a:r>
            <a:endParaRPr lang="en-US" sz="13000" dirty="0"/>
          </a:p>
        </p:txBody>
      </p:sp>
      <p:sp>
        <p:nvSpPr>
          <p:cNvPr id="4" name="hero-caption"/>
          <p:cNvSpPr txBox="1"/>
          <p:nvPr/>
        </p:nvSpPr>
        <p:spPr>
          <a:xfrm>
            <a:off x="640080" y="352044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First time buyer dropped significantly across the whole nation.</a:t>
            </a:r>
            <a:endParaRPr lang="en-US" sz="1800" dirty="0"/>
          </a:p>
        </p:txBody>
      </p:sp>
      <p:sp>
        <p:nvSpPr>
          <p:cNvPr id="5" name="stat-rate"/>
          <p:cNvSpPr txBox="1"/>
          <p:nvPr/>
        </p:nvSpPr>
        <p:spPr>
          <a:xfrm>
            <a:off x="6675120" y="169164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7.00%</a:t>
            </a:r>
            <a:endParaRPr lang="en-US" sz="4000" dirty="0"/>
          </a:p>
        </p:txBody>
      </p:sp>
      <p:sp>
        <p:nvSpPr>
          <p:cNvPr id="6" name="stat-rate-caption"/>
          <p:cNvSpPr txBox="1"/>
          <p:nvPr/>
        </p:nvSpPr>
        <p:spPr>
          <a:xfrm>
            <a:off x="6675120" y="246888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30-year mortgage rate on Oct 8, 2026, rise 7.4%</a:t>
            </a:r>
            <a:endParaRPr lang="en-US" sz="1600" dirty="0"/>
          </a:p>
        </p:txBody>
      </p:sp>
      <p:sp>
        <p:nvSpPr>
          <p:cNvPr id="7" name="stat-divider"/>
          <p:cNvSpPr/>
          <p:nvPr/>
        </p:nvSpPr>
        <p:spPr>
          <a:xfrm>
            <a:off x="6675120" y="3291840"/>
            <a:ext cx="4846320" cy="0"/>
          </a:xfrm>
          <a:prstGeom prst="line">
            <a:avLst/>
          </a:prstGeom>
          <a:noFill/>
          <a:ln w="12700">
            <a:solidFill>
              <a:srgbClr val="D5DA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tat-age"/>
          <p:cNvSpPr txBox="1"/>
          <p:nvPr/>
        </p:nvSpPr>
        <p:spPr>
          <a:xfrm>
            <a:off x="6675120" y="352044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y/o -&gt; 40 y/o</a:t>
            </a:r>
            <a:endParaRPr lang="en-US" sz="4000" dirty="0"/>
          </a:p>
        </p:txBody>
      </p:sp>
      <p:sp>
        <p:nvSpPr>
          <p:cNvPr id="9" name="stat-age-caption"/>
          <p:cNvSpPr txBox="1"/>
          <p:nvPr/>
        </p:nvSpPr>
        <p:spPr>
          <a:xfrm>
            <a:off x="6675120" y="429768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the median age of a first-time buyer, a record high</a:t>
            </a:r>
            <a:endParaRPr lang="en-US" sz="1600" dirty="0"/>
          </a:p>
        </p:txBody>
      </p:sp>
      <p:sp>
        <p:nvSpPr>
          <p:cNvPr id="10" name="gap-line"/>
          <p:cNvSpPr txBox="1"/>
          <p:nvPr/>
        </p:nvSpPr>
        <p:spPr>
          <a:xfrm>
            <a:off x="640080" y="52578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1" name="sources"/>
          <p:cNvSpPr txBox="1"/>
          <p:nvPr/>
        </p:nvSpPr>
        <p:spPr>
          <a:xfrm>
            <a:off x="640080" y="6035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640080" y="188258"/>
            <a:ext cx="10881360" cy="1091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big question, broken into three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11152"/>
            <a:ext cx="457200" cy="36396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  <p:sp>
        <p:nvSpPr>
          <p:cNvPr id="3" name="big-question"/>
          <p:cNvSpPr txBox="1"/>
          <p:nvPr/>
        </p:nvSpPr>
        <p:spPr>
          <a:xfrm>
            <a:off x="640080" y="666204"/>
            <a:ext cx="10424160" cy="1116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i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“Can a median-income family afford the median listing in the 100 largest metros as of September 2026, and if not, what has to change?”</a:t>
            </a:r>
            <a:endParaRPr lang="en-US" sz="2000" dirty="0"/>
          </a:p>
        </p:txBody>
      </p:sp>
      <p:sp>
        <p:nvSpPr>
          <p:cNvPr id="4" name="q-num-1"/>
          <p:cNvSpPr txBox="1"/>
          <p:nvPr/>
        </p:nvSpPr>
        <p:spPr>
          <a:xfrm>
            <a:off x="640080" y="2366980"/>
            <a:ext cx="640080" cy="970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600" dirty="0"/>
          </a:p>
        </p:txBody>
      </p:sp>
      <p:sp>
        <p:nvSpPr>
          <p:cNvPr id="5" name="q-text-1"/>
          <p:cNvSpPr txBox="1"/>
          <p:nvPr/>
        </p:nvSpPr>
        <p:spPr>
          <a:xfrm>
            <a:off x="1371600" y="2502348"/>
            <a:ext cx="5486400" cy="606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Is it affordable with 20% down?</a:t>
            </a:r>
            <a:endParaRPr lang="en-US" sz="2200" dirty="0"/>
          </a:p>
        </p:txBody>
      </p:sp>
      <p:sp>
        <p:nvSpPr>
          <p:cNvPr id="6" name="q-desc-1"/>
          <p:cNvSpPr txBox="1"/>
          <p:nvPr/>
        </p:nvSpPr>
        <p:spPr>
          <a:xfrm>
            <a:off x="7040880" y="2548068"/>
            <a:ext cx="4480560" cy="606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7" name="q-divider-1"/>
          <p:cNvSpPr/>
          <p:nvPr/>
        </p:nvSpPr>
        <p:spPr>
          <a:xfrm>
            <a:off x="640080" y="3474720"/>
            <a:ext cx="10881360" cy="0"/>
          </a:xfrm>
          <a:prstGeom prst="line">
            <a:avLst/>
          </a:prstGeom>
          <a:noFill/>
          <a:ln w="12700">
            <a:solidFill>
              <a:srgbClr val="D5DA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q-num-2"/>
          <p:cNvSpPr txBox="1"/>
          <p:nvPr/>
        </p:nvSpPr>
        <p:spPr>
          <a:xfrm>
            <a:off x="640080" y="3372820"/>
            <a:ext cx="640080" cy="970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600" dirty="0"/>
          </a:p>
        </p:txBody>
      </p:sp>
      <p:sp>
        <p:nvSpPr>
          <p:cNvPr id="9" name="q-text-2"/>
          <p:cNvSpPr txBox="1"/>
          <p:nvPr/>
        </p:nvSpPr>
        <p:spPr>
          <a:xfrm>
            <a:off x="1371600" y="3508188"/>
            <a:ext cx="5486400" cy="606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Is it still affordable with 10% down?</a:t>
            </a:r>
            <a:endParaRPr lang="en-US" sz="2200" dirty="0"/>
          </a:p>
        </p:txBody>
      </p:sp>
      <p:sp>
        <p:nvSpPr>
          <p:cNvPr id="10" name="q-desc-2"/>
          <p:cNvSpPr txBox="1"/>
          <p:nvPr/>
        </p:nvSpPr>
        <p:spPr>
          <a:xfrm>
            <a:off x="7040880" y="3553908"/>
            <a:ext cx="4480560" cy="606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1" name="q-divider-2"/>
          <p:cNvSpPr/>
          <p:nvPr/>
        </p:nvSpPr>
        <p:spPr>
          <a:xfrm>
            <a:off x="640080" y="4480560"/>
            <a:ext cx="10881360" cy="0"/>
          </a:xfrm>
          <a:prstGeom prst="line">
            <a:avLst/>
          </a:prstGeom>
          <a:noFill/>
          <a:ln w="12700">
            <a:solidFill>
              <a:srgbClr val="D5DA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q-num-3"/>
          <p:cNvSpPr txBox="1"/>
          <p:nvPr/>
        </p:nvSpPr>
        <p:spPr>
          <a:xfrm>
            <a:off x="640080" y="4378660"/>
            <a:ext cx="640080" cy="970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600" dirty="0"/>
          </a:p>
        </p:txBody>
      </p:sp>
      <p:sp>
        <p:nvSpPr>
          <p:cNvPr id="13" name="q-text-3"/>
          <p:cNvSpPr txBox="1"/>
          <p:nvPr/>
        </p:nvSpPr>
        <p:spPr>
          <a:xfrm>
            <a:off x="1371600" y="4514028"/>
            <a:ext cx="5486400" cy="606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If not, what would have to change?</a:t>
            </a:r>
            <a:endParaRPr lang="en-US" sz="2200" dirty="0"/>
          </a:p>
        </p:txBody>
      </p:sp>
      <p:sp>
        <p:nvSpPr>
          <p:cNvPr id="14" name="q-desc-3"/>
          <p:cNvSpPr txBox="1"/>
          <p:nvPr/>
        </p:nvSpPr>
        <p:spPr>
          <a:xfrm>
            <a:off x="7040880" y="4559748"/>
            <a:ext cx="4480560" cy="606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5" name="build-order"/>
          <p:cNvSpPr txBox="1"/>
          <p:nvPr/>
        </p:nvSpPr>
        <p:spPr>
          <a:xfrm>
            <a:off x="640080" y="5444266"/>
            <a:ext cx="10881360" cy="7279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5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1A5D862-A8D5-7877-C70A-098655CA3C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7103" y="1691639"/>
            <a:ext cx="5960779" cy="409059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8CD28BB-EB28-770B-0D05-12BFBAD4978E}"/>
              </a:ext>
            </a:extLst>
          </p:cNvPr>
          <p:cNvSpPr txBox="1"/>
          <p:nvPr/>
        </p:nvSpPr>
        <p:spPr>
          <a:xfrm>
            <a:off x="11241741" y="201705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public sources and NAR's own formula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graphicFrame>
        <p:nvGraphicFramePr>
          <p:cNvPr id="5" name="sources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17320"/>
          <a:ext cx="10881360" cy="18288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Ingredient</a:t>
                      </a:r>
                      <a:endParaRPr lang="en-US" sz="16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Source</a:t>
                      </a:r>
                      <a:endParaRPr lang="en-US" sz="16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What I used</a:t>
                      </a:r>
                      <a:endParaRPr lang="en-US" sz="16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D4A5C"/>
                          </a:solidFill>
                        </a:rPr>
                        <a:t>Price</a:t>
                      </a:r>
                      <a:endParaRPr lang="en-US" sz="16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D4A5C"/>
                          </a:solidFill>
                        </a:rPr>
                        <a:t>Realtor.com metro inventory</a:t>
                      </a:r>
                      <a:endParaRPr lang="en-US" sz="16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D4A5C"/>
                          </a:solidFill>
                        </a:rPr>
                        <a:t>Median listing price, September 2026</a:t>
                      </a:r>
                      <a:endParaRPr lang="en-US" sz="16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D4A5C"/>
                          </a:solidFill>
                        </a:rPr>
                        <a:t>Rate</a:t>
                      </a:r>
                      <a:endParaRPr lang="en-US" sz="16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D4A5C"/>
                          </a:solidFill>
                        </a:rPr>
                        <a:t>Freddie Mac 30-year fixed (FRED)</a:t>
                      </a:r>
                      <a:endParaRPr lang="en-US" sz="16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D4A5C"/>
                          </a:solidFill>
                        </a:rPr>
                        <a:t>Weekly rates averaged to monthly: 6.86%</a:t>
                      </a:r>
                      <a:endParaRPr lang="en-US" sz="16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D4A5C"/>
                          </a:solidFill>
                        </a:rPr>
                        <a:t>Income</a:t>
                      </a:r>
                      <a:endParaRPr lang="en-US" sz="16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D4A5C"/>
                          </a:solidFill>
                        </a:rPr>
                        <a:t>Census ACS 2024, table B19113</a:t>
                      </a:r>
                      <a:endParaRPr lang="en-US" sz="16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D4A5C"/>
                          </a:solidFill>
                        </a:rPr>
                        <a:t>Median family income and its margin of error</a:t>
                      </a:r>
                      <a:endParaRPr lang="en-US" sz="16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formula"/>
          <p:cNvSpPr txBox="1"/>
          <p:nvPr/>
        </p:nvSpPr>
        <p:spPr>
          <a:xfrm>
            <a:off x="640080" y="36118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HAI  =  median family income  ÷  income needed  ×  100</a:t>
            </a:r>
            <a:endParaRPr lang="en-US" sz="2600" dirty="0"/>
          </a:p>
        </p:txBody>
      </p:sp>
      <p:sp>
        <p:nvSpPr>
          <p:cNvPr id="3" name="formula-explain"/>
          <p:cNvSpPr txBox="1"/>
          <p:nvPr/>
        </p:nvSpPr>
        <p:spPr>
          <a:xfrm>
            <a:off x="640080" y="4206240"/>
            <a:ext cx="10424160" cy="1683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/>
              <a:t>Loan = Price * (1- down payment)</a:t>
            </a:r>
          </a:p>
          <a:p>
            <a:pPr marL="0" indent="0">
              <a:buNone/>
            </a:pPr>
            <a:r>
              <a:rPr lang="en-US" sz="1600" dirty="0"/>
              <a:t>r = rate % / 100 / 12</a:t>
            </a:r>
          </a:p>
          <a:p>
            <a:pPr marL="0" indent="0">
              <a:buNone/>
            </a:pPr>
            <a:r>
              <a:rPr lang="en-US" sz="1600" dirty="0"/>
              <a:t>Payment = Loan * r /(1-(1+r)^-360</a:t>
            </a:r>
          </a:p>
          <a:p>
            <a:pPr marL="0" indent="0">
              <a:buNone/>
            </a:pPr>
            <a:r>
              <a:rPr lang="en-US" sz="1600" dirty="0"/>
              <a:t>Income needed = Payment * 12 / 0.25</a:t>
            </a:r>
          </a:p>
        </p:txBody>
      </p:sp>
      <p:sp>
        <p:nvSpPr>
          <p:cNvPr id="7" name="checks"/>
          <p:cNvSpPr txBox="1"/>
          <p:nvPr/>
        </p:nvSpPr>
        <p:spPr>
          <a:xfrm>
            <a:off x="640080" y="5303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640080" y="2057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20% down, P&amp;I &lt; 25% of their income</a:t>
            </a:r>
            <a:br>
              <a:rPr lang="en-US" sz="2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</a:br>
            <a:r>
              <a:rPr lang="en-US" sz="2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 of the 100 metros are clearly affordable</a:t>
            </a:r>
            <a:endParaRPr lang="en-US" sz="2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  <p:pic>
        <p:nvPicPr>
          <p:cNvPr id="3" name="q1-chart" descr="Bar chart of the 15 least and 15 most affordable of the 100 largest metros, September 2026, from my noteboo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59" y="887506"/>
            <a:ext cx="5486399" cy="5428712"/>
          </a:xfrm>
          <a:prstGeom prst="rect">
            <a:avLst/>
          </a:prstGeom>
        </p:spPr>
      </p:pic>
      <p:sp>
        <p:nvSpPr>
          <p:cNvPr id="4" name="q1-num-0"/>
          <p:cNvSpPr txBox="1"/>
          <p:nvPr/>
        </p:nvSpPr>
        <p:spPr>
          <a:xfrm>
            <a:off x="640080" y="155448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00B0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</a:t>
            </a:r>
            <a:endParaRPr lang="en-US" sz="4400" dirty="0">
              <a:solidFill>
                <a:srgbClr val="00B050"/>
              </a:solidFill>
            </a:endParaRPr>
          </a:p>
        </p:txBody>
      </p:sp>
      <p:sp>
        <p:nvSpPr>
          <p:cNvPr id="5" name="q1-label-0"/>
          <p:cNvSpPr txBox="1"/>
          <p:nvPr/>
        </p:nvSpPr>
        <p:spPr>
          <a:xfrm>
            <a:off x="1920240" y="17830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clearly affordable</a:t>
            </a:r>
            <a:endParaRPr lang="en-US" sz="1800" dirty="0"/>
          </a:p>
        </p:txBody>
      </p:sp>
      <p:sp>
        <p:nvSpPr>
          <p:cNvPr id="6" name="q1-num-1"/>
          <p:cNvSpPr txBox="1"/>
          <p:nvPr/>
        </p:nvSpPr>
        <p:spPr>
          <a:xfrm>
            <a:off x="640080" y="260604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4400" dirty="0"/>
          </a:p>
        </p:txBody>
      </p:sp>
      <p:sp>
        <p:nvSpPr>
          <p:cNvPr id="7" name="q1-label-1"/>
          <p:cNvSpPr txBox="1"/>
          <p:nvPr/>
        </p:nvSpPr>
        <p:spPr>
          <a:xfrm>
            <a:off x="1920240" y="28346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too close to call</a:t>
            </a:r>
            <a:endParaRPr lang="en-US" sz="1800" dirty="0"/>
          </a:p>
        </p:txBody>
      </p:sp>
      <p:sp>
        <p:nvSpPr>
          <p:cNvPr id="8" name="q1-num-2"/>
          <p:cNvSpPr txBox="1"/>
          <p:nvPr/>
        </p:nvSpPr>
        <p:spPr>
          <a:xfrm>
            <a:off x="640080" y="365760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</a:t>
            </a:r>
            <a:endParaRPr lang="en-US" sz="4400" dirty="0">
              <a:solidFill>
                <a:srgbClr val="FF0000"/>
              </a:solidFill>
            </a:endParaRPr>
          </a:p>
        </p:txBody>
      </p:sp>
      <p:sp>
        <p:nvSpPr>
          <p:cNvPr id="9" name="q1-label-2"/>
          <p:cNvSpPr txBox="1"/>
          <p:nvPr/>
        </p:nvSpPr>
        <p:spPr>
          <a:xfrm>
            <a:off x="1920240" y="38862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clearly not affordable</a:t>
            </a:r>
            <a:endParaRPr lang="en-US" sz="1800" dirty="0"/>
          </a:p>
        </p:txBody>
      </p:sp>
      <p:sp>
        <p:nvSpPr>
          <p:cNvPr id="10" name="q1-note"/>
          <p:cNvSpPr txBox="1"/>
          <p:nvPr/>
        </p:nvSpPr>
        <p:spPr>
          <a:xfrm>
            <a:off x="640080" y="48006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The median metro scores 103, just over the line. Los Angeles is least affordable (42); Pittsburgh is most affordable (167).</a:t>
            </a:r>
            <a:endParaRPr lang="en-US" sz="1500" dirty="0"/>
          </a:p>
        </p:txBody>
      </p:sp>
      <p:sp>
        <p:nvSpPr>
          <p:cNvPr id="11" name="q1-footnote"/>
          <p:cNvSpPr txBox="1"/>
          <p:nvPr/>
        </p:nvSpPr>
        <p:spPr>
          <a:xfrm>
            <a:off x="640080" y="57607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12 metros, the honest answer is “too close to call”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  <p:pic>
        <p:nvPicPr>
          <p:cNvPr id="3" name="too-close-chart" descr="Chart of the 12 metros whose income margin of error crosses an HAI of 100, from my noteboo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234440"/>
            <a:ext cx="7680960" cy="4453128"/>
          </a:xfrm>
          <a:prstGeom prst="rect">
            <a:avLst/>
          </a:prstGeom>
        </p:spPr>
      </p:pic>
      <p:sp>
        <p:nvSpPr>
          <p:cNvPr id="4" name="too-close-text"/>
          <p:cNvSpPr txBox="1"/>
          <p:nvPr/>
        </p:nvSpPr>
        <p:spPr>
          <a:xfrm>
            <a:off x="8686800" y="1463040"/>
            <a:ext cx="28346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Census income is a survey estimate, not an exact count.</a:t>
            </a:r>
            <a:endParaRPr lang="en-US" sz="1600" dirty="0"/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When its range crosses 100, these metros could fall on either side, so I don't force a yes or no.</a:t>
            </a:r>
            <a:endParaRPr lang="en-US" sz="1600" dirty="0"/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10% down, clearly affordable metros fall from 47 to 27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  <p:pic>
        <p:nvPicPr>
          <p:cNvPr id="3" name="q2-chart" descr="Stacked bars of verdict counts at 20% and 10% down, from my noteboo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188720"/>
            <a:ext cx="8138160" cy="3739896"/>
          </a:xfrm>
          <a:prstGeom prst="rect">
            <a:avLst/>
          </a:prstGeom>
        </p:spPr>
      </p:pic>
      <p:sp>
        <p:nvSpPr>
          <p:cNvPr id="4" name="q2-num-0"/>
          <p:cNvSpPr txBox="1"/>
          <p:nvPr/>
        </p:nvSpPr>
        <p:spPr>
          <a:xfrm>
            <a:off x="9144000" y="13258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$262</a:t>
            </a:r>
            <a:endParaRPr lang="en-US" sz="3400" dirty="0"/>
          </a:p>
        </p:txBody>
      </p:sp>
      <p:sp>
        <p:nvSpPr>
          <p:cNvPr id="5" name="q2-label-0"/>
          <p:cNvSpPr txBox="1"/>
          <p:nvPr/>
        </p:nvSpPr>
        <p:spPr>
          <a:xfrm>
            <a:off x="9144000" y="189280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more per month at the median ($144 to $911)</a:t>
            </a:r>
            <a:endParaRPr lang="en-US" sz="1400" dirty="0"/>
          </a:p>
        </p:txBody>
      </p:sp>
      <p:sp>
        <p:nvSpPr>
          <p:cNvPr id="6" name="q2-divider-1"/>
          <p:cNvSpPr/>
          <p:nvPr/>
        </p:nvSpPr>
        <p:spPr>
          <a:xfrm>
            <a:off x="9144000" y="2377440"/>
            <a:ext cx="2377440" cy="0"/>
          </a:xfrm>
          <a:prstGeom prst="line">
            <a:avLst/>
          </a:prstGeom>
          <a:noFill/>
          <a:ln w="12700">
            <a:solidFill>
              <a:srgbClr val="D5DA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q2-num-1"/>
          <p:cNvSpPr txBox="1"/>
          <p:nvPr/>
        </p:nvSpPr>
        <p:spPr>
          <a:xfrm>
            <a:off x="9144000" y="25146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en-US" sz="3400" dirty="0"/>
          </a:p>
        </p:txBody>
      </p:sp>
      <p:sp>
        <p:nvSpPr>
          <p:cNvPr id="8" name="q2-label-1"/>
          <p:cNvSpPr txBox="1"/>
          <p:nvPr/>
        </p:nvSpPr>
        <p:spPr>
          <a:xfrm>
            <a:off x="9144000" y="30815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metros change verdict</a:t>
            </a:r>
            <a:endParaRPr lang="en-US" sz="1400" dirty="0"/>
          </a:p>
        </p:txBody>
      </p:sp>
      <p:sp>
        <p:nvSpPr>
          <p:cNvPr id="9" name="q2-divider-2"/>
          <p:cNvSpPr/>
          <p:nvPr/>
        </p:nvSpPr>
        <p:spPr>
          <a:xfrm>
            <a:off x="9144000" y="3566160"/>
            <a:ext cx="2377440" cy="0"/>
          </a:xfrm>
          <a:prstGeom prst="line">
            <a:avLst/>
          </a:prstGeom>
          <a:noFill/>
          <a:ln w="12700">
            <a:solidFill>
              <a:srgbClr val="D5DA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q2-num-2"/>
          <p:cNvSpPr txBox="1"/>
          <p:nvPr/>
        </p:nvSpPr>
        <p:spPr>
          <a:xfrm>
            <a:off x="9144000" y="37033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</a:t>
            </a:r>
            <a:endParaRPr lang="en-US" sz="3400" dirty="0"/>
          </a:p>
        </p:txBody>
      </p:sp>
      <p:sp>
        <p:nvSpPr>
          <p:cNvPr id="11" name="q2-label-2"/>
          <p:cNvSpPr txBox="1"/>
          <p:nvPr/>
        </p:nvSpPr>
        <p:spPr>
          <a:xfrm>
            <a:off x="9144000" y="42702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not affordable, up from 41</a:t>
            </a:r>
            <a:endParaRPr lang="en-US" sz="1400" dirty="0"/>
          </a:p>
        </p:txBody>
      </p:sp>
      <p:sp>
        <p:nvSpPr>
          <p:cNvPr id="12" name="q2-note"/>
          <p:cNvSpPr txBox="1"/>
          <p:nvPr/>
        </p:nvSpPr>
        <p:spPr>
          <a:xfrm>
            <a:off x="640080" y="52578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Rates matter most: 19 metros are affordable at 7.40%, 62 at 5%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  <p:pic>
        <p:nvPicPr>
          <p:cNvPr id="3" name="q3-chart" descr="Stacked bars of verdict counts at seven mortgage rates with 10% down, from my noteboo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71600"/>
            <a:ext cx="7040880" cy="4462272"/>
          </a:xfrm>
          <a:prstGeom prst="rect">
            <a:avLst/>
          </a:prstGeom>
        </p:spPr>
      </p:pic>
      <p:sp>
        <p:nvSpPr>
          <p:cNvPr id="4" name="q3-text"/>
          <p:cNvSpPr txBox="1"/>
          <p:nvPr/>
        </p:nvSpPr>
        <p:spPr>
          <a:xfrm>
            <a:off x="8046720" y="1371600"/>
            <a:ext cx="34747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What it would take, one change at a time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accent3"/>
                </a:solidFill>
              </a:rPr>
              <a:t>(the 63 metros not affordable at 10% down)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Prices fall about 20% (median)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or incomes rise about 25%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or the rate drops: at 6%, affordable metros rise from 27 to 44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  <p:sp>
        <p:nvSpPr>
          <p:cNvPr id="3" name="rec-who-0"/>
          <p:cNvSpPr txBox="1"/>
          <p:nvPr/>
        </p:nvSpPr>
        <p:spPr>
          <a:xfrm>
            <a:off x="640080" y="1554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chemeClr val="accent2"/>
                </a:solidFill>
              </a:rPr>
              <a:t>NAR RESEARCH</a:t>
            </a:r>
            <a:endParaRPr lang="en-US" sz="1300" dirty="0"/>
          </a:p>
        </p:txBody>
      </p:sp>
      <p:sp>
        <p:nvSpPr>
          <p:cNvPr id="4" name="rec-what-0"/>
          <p:cNvSpPr txBox="1"/>
          <p:nvPr/>
        </p:nvSpPr>
        <p:spPr>
          <a:xfrm>
            <a:off x="2926080" y="150876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Publish a monthly, metro-level listing index as an early signal next to the official HAI</a:t>
            </a:r>
            <a:endParaRPr lang="en-US" sz="2000" dirty="0"/>
          </a:p>
        </p:txBody>
      </p:sp>
      <p:sp>
        <p:nvSpPr>
          <p:cNvPr id="5" name="rec-why-0"/>
          <p:cNvSpPr txBox="1"/>
          <p:nvPr/>
        </p:nvSpPr>
        <p:spPr>
          <a:xfrm>
            <a:off x="7955280" y="155448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6" name="rec-divider-1"/>
          <p:cNvSpPr/>
          <p:nvPr/>
        </p:nvSpPr>
        <p:spPr>
          <a:xfrm>
            <a:off x="640080" y="2697480"/>
            <a:ext cx="10881360" cy="0"/>
          </a:xfrm>
          <a:prstGeom prst="line">
            <a:avLst/>
          </a:prstGeom>
          <a:noFill/>
          <a:ln w="12700">
            <a:solidFill>
              <a:srgbClr val="D5DA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-who-1"/>
          <p:cNvSpPr txBox="1"/>
          <p:nvPr/>
        </p:nvSpPr>
        <p:spPr>
          <a:xfrm>
            <a:off x="640080" y="2971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chemeClr val="accent2"/>
                </a:solidFill>
              </a:rPr>
              <a:t>REALTORS</a:t>
            </a:r>
            <a:endParaRPr lang="en-US" sz="1300" dirty="0"/>
          </a:p>
        </p:txBody>
      </p:sp>
      <p:sp>
        <p:nvSpPr>
          <p:cNvPr id="8" name="rec-what-1"/>
          <p:cNvSpPr txBox="1"/>
          <p:nvPr/>
        </p:nvSpPr>
        <p:spPr>
          <a:xfrm>
            <a:off x="2926080" y="2926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 rates in metros near break-even, and tell buyers when a metro crosses 100</a:t>
            </a:r>
            <a:endParaRPr lang="en-US" sz="2000" dirty="0"/>
          </a:p>
        </p:txBody>
      </p:sp>
      <p:sp>
        <p:nvSpPr>
          <p:cNvPr id="9" name="rec-why-1"/>
          <p:cNvSpPr txBox="1"/>
          <p:nvPr/>
        </p:nvSpPr>
        <p:spPr>
          <a:xfrm>
            <a:off x="7955280" y="297180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0" name="rec-divider-2"/>
          <p:cNvSpPr/>
          <p:nvPr/>
        </p:nvSpPr>
        <p:spPr>
          <a:xfrm>
            <a:off x="640080" y="4114800"/>
            <a:ext cx="10881360" cy="0"/>
          </a:xfrm>
          <a:prstGeom prst="line">
            <a:avLst/>
          </a:prstGeom>
          <a:noFill/>
          <a:ln w="12700">
            <a:solidFill>
              <a:srgbClr val="D5DA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-who-2"/>
          <p:cNvSpPr txBox="1"/>
          <p:nvPr/>
        </p:nvSpPr>
        <p:spPr>
          <a:xfrm>
            <a:off x="640080" y="4389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chemeClr val="accent2"/>
                </a:solidFill>
              </a:rPr>
              <a:t>FIRST-TIME BUYERS</a:t>
            </a:r>
            <a:endParaRPr lang="en-US" sz="1300" dirty="0"/>
          </a:p>
        </p:txBody>
      </p:sp>
      <p:sp>
        <p:nvSpPr>
          <p:cNvPr id="12" name="rec-what-2"/>
          <p:cNvSpPr txBox="1"/>
          <p:nvPr/>
        </p:nvSpPr>
        <p:spPr>
          <a:xfrm>
            <a:off x="2926080" y="434340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down-payment help a core part of first-time buyer guidance</a:t>
            </a:r>
            <a:endParaRPr lang="en-US" sz="2000" dirty="0"/>
          </a:p>
        </p:txBody>
      </p:sp>
      <p:sp>
        <p:nvSpPr>
          <p:cNvPr id="13" name="rec-why-2"/>
          <p:cNvSpPr txBox="1"/>
          <p:nvPr/>
        </p:nvSpPr>
        <p:spPr>
          <a:xfrm>
            <a:off x="7955280" y="438912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4" name="rec-footnote"/>
          <p:cNvSpPr txBox="1"/>
          <p:nvPr/>
        </p:nvSpPr>
        <p:spPr>
          <a:xfrm>
            <a:off x="640080" y="57607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ines">
  <a:themeElements>
    <a:clrScheme name="Lines">
      <a:dk1>
        <a:srgbClr val="0F0F0F"/>
      </a:dk1>
      <a:lt1>
        <a:sysClr val="window" lastClr="FFFFFF"/>
      </a:lt1>
      <a:dk2>
        <a:srgbClr val="0A242A"/>
      </a:dk2>
      <a:lt2>
        <a:srgbClr val="F5F2ED"/>
      </a:lt2>
      <a:accent1>
        <a:srgbClr val="E45730"/>
      </a:accent1>
      <a:accent2>
        <a:srgbClr val="27717D"/>
      </a:accent2>
      <a:accent3>
        <a:srgbClr val="8CA8B5"/>
      </a:accent3>
      <a:accent4>
        <a:srgbClr val="607381"/>
      </a:accent4>
      <a:accent5>
        <a:srgbClr val="A39990"/>
      </a:accent5>
      <a:accent6>
        <a:srgbClr val="BA3106"/>
      </a:accent6>
      <a:hlink>
        <a:srgbClr val="E45730"/>
      </a:hlink>
      <a:folHlink>
        <a:srgbClr val="24717F"/>
      </a:folHlink>
    </a:clrScheme>
    <a:fontScheme name="Univers Condensed Arial Light">
      <a:majorFont>
        <a:latin typeface="Univers Condensed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Lines" id="{73C0D9B4-D252-4142-B71F-89E39AB3FA27}" vid="{AF756BC4-928A-4ACB-8AC0-2FBFD00AF40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Lines</Template>
  <TotalTime>1336</TotalTime>
  <Words>1232</Words>
  <Application>Microsoft Macintosh PowerPoint</Application>
  <PresentationFormat>Widescreen</PresentationFormat>
  <Paragraphs>149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Arial</vt:lpstr>
      <vt:lpstr>Arial Nova Light</vt:lpstr>
      <vt:lpstr>Cambria</vt:lpstr>
      <vt:lpstr>Univers Condensed</vt:lpstr>
      <vt:lpstr>Lines</vt:lpstr>
      <vt:lpstr>PowerPoint Presentation</vt:lpstr>
      <vt:lpstr>First-time buyers are being priced out</vt:lpstr>
      <vt:lpstr>One big question, broken into three</vt:lpstr>
      <vt:lpstr>Three public sources and NAR's own formula</vt:lpstr>
      <vt:lpstr>With 20% down, P&amp;I &lt; 25% of their income 47 of the 100 metros are clearly affordable</vt:lpstr>
      <vt:lpstr>For 12 metros, the honest answer is “too close to call”</vt:lpstr>
      <vt:lpstr>With 10% down, clearly affordable metros fall from 47 to 27</vt:lpstr>
      <vt:lpstr>Rates matter most: 19 metros are affordable at 7.40%, 62 at 5%</vt:lpstr>
      <vt:lpstr>Recommendations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Metro Affordability Pulse</dc:title>
  <dc:subject>PptxGenJS Presentation</dc:subject>
  <dc:creator>Long Nguyen</dc:creator>
  <cp:lastModifiedBy>Long Nguyen</cp:lastModifiedBy>
  <cp:revision>2</cp:revision>
  <dcterms:created xsi:type="dcterms:W3CDTF">2026-10-12T15:52:52Z</dcterms:created>
  <dcterms:modified xsi:type="dcterms:W3CDTF">2026-10-13T14:09:31Z</dcterms:modified>
</cp:coreProperties>
</file>